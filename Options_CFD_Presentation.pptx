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 slides" id="{8f675af9-452b-305c-3b16-0c74c12c0918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Appendix" id="{d9bec084-ff6b-da55-cc4b-3db5c947ac6e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213D"/>
                </a:solidFill>
                <a:latin typeface="+mn-lt"/>
              </a:rPr>
              <a:t>CFI account balance after each closed trade ($)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Balance</c:v>
                </c:pt>
              </c:strCache>
            </c:strRef>
          </c:tx>
          <c:spPr>
            <a:solidFill>
              <a:srgbClr val="2F6FB0"/>
            </a:solidFill>
            <a:ln w="31750" cap="flat">
              <a:solidFill>
                <a:srgbClr val="2F6FB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F6FB0"/>
              </a:solidFill>
              <a:ln w="9525" cap="flat">
                <a:solidFill>
                  <a:srgbClr val="2F6FB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Start</c:v>
                  </c:pt>
                  <c:pt idx="1">
                    <c:v>US100</c:v>
                  </c:pt>
                  <c:pt idx="2">
                    <c:v>US30</c:v>
                  </c:pt>
                  <c:pt idx="3">
                    <c:v>Gold</c:v>
                  </c:pt>
                  <c:pt idx="4">
                    <c:v>US100</c:v>
                  </c:pt>
                  <c:pt idx="5">
                    <c:v>US500</c:v>
                  </c:pt>
                  <c:pt idx="6">
                    <c:v>Gold</c:v>
                  </c:pt>
                  <c:pt idx="7">
                    <c:v>Gold</c:v>
                  </c:pt>
                  <c:pt idx="8">
                    <c:v>JPN225</c:v>
                  </c:pt>
                  <c:pt idx="9">
                    <c:v>UK100</c:v>
                  </c:pt>
                  <c:pt idx="10">
                    <c:v>WTI</c:v>
                  </c:pt>
                  <c:pt idx="11">
                    <c:v>AUDUSD</c:v>
                  </c:pt>
                  <c:pt idx="12">
                    <c:v>Silver</c:v>
                  </c:pt>
                  <c:pt idx="13">
                    <c:v>US500</c:v>
                  </c:pt>
                  <c:pt idx="14">
                    <c:v>JPN225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100000</c:v>
                </c:pt>
                <c:pt idx="1">
                  <c:v>103253.8</c:v>
                </c:pt>
                <c:pt idx="2">
                  <c:v>106991.8</c:v>
                </c:pt>
                <c:pt idx="3">
                  <c:v>108027.8</c:v>
                </c:pt>
                <c:pt idx="4">
                  <c:v>109145.6</c:v>
                </c:pt>
                <c:pt idx="5">
                  <c:v>109673.6</c:v>
                </c:pt>
                <c:pt idx="6">
                  <c:v>113939.6</c:v>
                </c:pt>
                <c:pt idx="7">
                  <c:v>160963.6</c:v>
                </c:pt>
                <c:pt idx="8">
                  <c:v>138688.12</c:v>
                </c:pt>
                <c:pt idx="9">
                  <c:v>140483.37</c:v>
                </c:pt>
                <c:pt idx="10">
                  <c:v>144748.37</c:v>
                </c:pt>
                <c:pt idx="11">
                  <c:v>145418.37</c:v>
                </c:pt>
                <c:pt idx="12">
                  <c:v>126810.37</c:v>
                </c:pt>
                <c:pt idx="13">
                  <c:v>126702.37</c:v>
                </c:pt>
                <c:pt idx="14">
                  <c:v>118409.92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90000"/>
        </c:scaling>
        <c:delete val="0"/>
        <c:axPos val="l"/>
        <c:majorGridlines>
          <c:spPr>
            <a:ln w="9525" cap="flat">
              <a:solidFill>
                <a:srgbClr val="E3E8EF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4213D"/>
                </a:solidFill>
                <a:latin typeface="+mn-lt"/>
              </a:rPr>
              <a:t>P/L per trade ($)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P/L</c:v>
                </c:pt>
              </c:strCache>
            </c:strRef>
          </c:tx>
          <c:spPr>
            <a:solidFill>
              <a:srgbClr val="0E9F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E9F6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E9F6E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0E9F6E"/>
              </a:solidFill>
              <a:effectLst/>
            </c:spPr>
          </c:dPt>
          <c:cat>
            <c:multiLvlStrRef>
              <c:f>Sheet1!$A$2:$A$16</c:f>
              <c:multiLvlStrCache>
                <c:ptCount val="15"/>
                <c:lvl>
                  <c:pt idx="0">
                    <c:v>AMD P</c:v>
                  </c:pt>
                  <c:pt idx="1">
                    <c:v>TSLA C</c:v>
                  </c:pt>
                  <c:pt idx="2">
                    <c:v>NVDA C</c:v>
                  </c:pt>
                  <c:pt idx="3">
                    <c:v>SPY C</c:v>
                  </c:pt>
                  <c:pt idx="4">
                    <c:v>VOO C</c:v>
                  </c:pt>
                  <c:pt idx="5">
                    <c:v>NVDA P</c:v>
                  </c:pt>
                  <c:pt idx="6">
                    <c:v>SPY C</c:v>
                  </c:pt>
                  <c:pt idx="7">
                    <c:v>IWM C</c:v>
                  </c:pt>
                  <c:pt idx="8">
                    <c:v>PG C</c:v>
                  </c:pt>
                  <c:pt idx="9">
                    <c:v>SONY C</c:v>
                  </c:pt>
                  <c:pt idx="10">
                    <c:v>XMTR C</c:v>
                  </c:pt>
                  <c:pt idx="11">
                    <c:v>JPM P</c:v>
                  </c:pt>
                  <c:pt idx="12">
                    <c:v>AMZN C</c:v>
                  </c:pt>
                  <c:pt idx="13">
                    <c:v>MSFT P</c:v>
                  </c:pt>
                  <c:pt idx="14">
                    <c:v>AAPL C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-3820</c:v>
                </c:pt>
                <c:pt idx="1">
                  <c:v>-1900</c:v>
                </c:pt>
                <c:pt idx="2">
                  <c:v>-15</c:v>
                </c:pt>
                <c:pt idx="3">
                  <c:v>-10</c:v>
                </c:pt>
                <c:pt idx="4">
                  <c:v>-1900</c:v>
                </c:pt>
                <c:pt idx="5">
                  <c:v>-4090</c:v>
                </c:pt>
                <c:pt idx="6">
                  <c:v>570</c:v>
                </c:pt>
                <c:pt idx="7">
                  <c:v>-1160</c:v>
                </c:pt>
                <c:pt idx="8">
                  <c:v>1270</c:v>
                </c:pt>
                <c:pt idx="9">
                  <c:v>-250</c:v>
                </c:pt>
                <c:pt idx="10">
                  <c:v>-2100</c:v>
                </c:pt>
                <c:pt idx="11">
                  <c:v>-1150</c:v>
                </c:pt>
                <c:pt idx="12">
                  <c:v>-1206</c:v>
                </c:pt>
                <c:pt idx="13">
                  <c:v>-1745</c:v>
                </c:pt>
                <c:pt idx="14">
                  <c:v>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3E8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4213D"/>
                </a:solidFill>
                <a:latin typeface="+mn-lt"/>
              </a:rPr>
              <a:t>CFD P&amp;L by asset class ($)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P&amp;L</c:v>
                </c:pt>
              </c:strCache>
            </c:strRef>
          </c:tx>
          <c:spPr>
            <a:solidFill>
              <a:srgbClr val="0E9F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9F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9F6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9F6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Gold</c:v>
                  </c:pt>
                  <c:pt idx="1">
                    <c:v>Oil</c:v>
                  </c:pt>
                  <c:pt idx="2">
                    <c:v>Forex</c:v>
                  </c:pt>
                  <c:pt idx="3">
                    <c:v>Index</c:v>
                  </c:pt>
                  <c:pt idx="4">
                    <c:v>Silver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52326</c:v>
                </c:pt>
                <c:pt idx="1">
                  <c:v>4265</c:v>
                </c:pt>
                <c:pt idx="2">
                  <c:v>670</c:v>
                </c:pt>
                <c:pt idx="3">
                  <c:v>-20243.08</c:v>
                </c:pt>
                <c:pt idx="4">
                  <c:v>-18608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000"/>
          <c:min val="-40000"/>
        </c:scaling>
        <c:delete val="0"/>
        <c:axPos val="b"/>
        <c:majorGridlines>
          <c:spPr>
            <a:ln w="6350" cap="flat">
              <a:solidFill>
                <a:srgbClr val="E3E8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 the presenter names in Canva before submitting.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Talking point: stocks/ETFs on Webull through options; indices, commodities, forex and an ETF on CFI through CFDs. Fill in the AI statement honestly: the rubric gives full marks either way as long as it is clear.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 the fundamental/technical reasons match what the group actually saw when placing the trade.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Ending balance and P&amp;L match the CFI app and the Excel log: 14 closed trades. SPYV.ETF is still open (+$2.50 unrealised, not counted).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drafts based on the trade record. Each member should adapt them to how they actually felt; every presenter will be asked individually.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BU 8301 · Derivatives &amp; Alternative Investments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image" Target="../media/image-11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image" Target="../media/image-12-3.jpg"/><Relationship Id="rId4" Type="http://schemas.openxmlformats.org/officeDocument/2006/relationships/image" Target="../media/image-12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image" Target="../media/image-13-3.jpg"/><Relationship Id="rId4" Type="http://schemas.openxmlformats.org/officeDocument/2006/relationships/image" Target="../media/image-13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image" Target="../media/image-14-3.jpg"/><Relationship Id="rId4" Type="http://schemas.openxmlformats.org/officeDocument/2006/relationships/image" Target="../media/image-14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image" Target="../media/image-15-3.jpg"/><Relationship Id="rId4" Type="http://schemas.openxmlformats.org/officeDocument/2006/relationships/image" Target="../media/image-15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image" Target="../media/image-16-3.jpg"/><Relationship Id="rId4" Type="http://schemas.openxmlformats.org/officeDocument/2006/relationships/image" Target="../media/image-16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image" Target="../media/image-17-3.jpg"/><Relationship Id="rId4" Type="http://schemas.openxmlformats.org/officeDocument/2006/relationships/image" Target="../media/image-17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jpg"/><Relationship Id="rId3" Type="http://schemas.openxmlformats.org/officeDocument/2006/relationships/image" Target="../media/image-19-3.jpg"/><Relationship Id="rId4" Type="http://schemas.openxmlformats.org/officeDocument/2006/relationships/image" Target="../media/image-19-4.jpg"/><Relationship Id="rId5" Type="http://schemas.openxmlformats.org/officeDocument/2006/relationships/image" Target="../media/image-19-5.jpg"/><Relationship Id="rId6" Type="http://schemas.openxmlformats.org/officeDocument/2006/relationships/image" Target="../media/image-19-6.jpg"/><Relationship Id="rId7" Type="http://schemas.openxmlformats.org/officeDocument/2006/relationships/image" Target="../media/image-19-7.jpg"/><Relationship Id="rId8" Type="http://schemas.openxmlformats.org/officeDocument/2006/relationships/image" Target="../media/image-19-8.jpg"/><Relationship Id="rId9" Type="http://schemas.openxmlformats.org/officeDocument/2006/relationships/image" Target="../media/image-19-9.jpg"/><Relationship Id="rId10" Type="http://schemas.openxmlformats.org/officeDocument/2006/relationships/image" Target="../media/image-19-10.jpg"/><Relationship Id="rId11" Type="http://schemas.openxmlformats.org/officeDocument/2006/relationships/image" Target="../media/image-19-11.jpg"/><Relationship Id="rId12" Type="http://schemas.openxmlformats.org/officeDocument/2006/relationships/image" Target="../media/image-19-12.jp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jpg"/><Relationship Id="rId3" Type="http://schemas.openxmlformats.org/officeDocument/2006/relationships/image" Target="../media/image-20-3.jpg"/><Relationship Id="rId4" Type="http://schemas.openxmlformats.org/officeDocument/2006/relationships/image" Target="../media/image-20-4.jpg"/><Relationship Id="rId5" Type="http://schemas.openxmlformats.org/officeDocument/2006/relationships/image" Target="../media/image-20-5.jpg"/><Relationship Id="rId6" Type="http://schemas.openxmlformats.org/officeDocument/2006/relationships/image" Target="../media/image-20-6.jpg"/><Relationship Id="rId7" Type="http://schemas.openxmlformats.org/officeDocument/2006/relationships/image" Target="../media/image-20-7.jpg"/><Relationship Id="rId8" Type="http://schemas.openxmlformats.org/officeDocument/2006/relationships/image" Target="../media/image-20-8.jpg"/><Relationship Id="rId9" Type="http://schemas.openxmlformats.org/officeDocument/2006/relationships/image" Target="../media/image-20-9.jpg"/><Relationship Id="rId10" Type="http://schemas.openxmlformats.org/officeDocument/2006/relationships/image" Target="../media/image-20-10.jpg"/><Relationship Id="rId11" Type="http://schemas.openxmlformats.org/officeDocument/2006/relationships/image" Target="../media/image-20-11.jpg"/><Relationship Id="rId12" Type="http://schemas.openxmlformats.org/officeDocument/2006/relationships/image" Target="../media/image-20-12.jp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image" Target="../media/image-21-2.jpg"/><Relationship Id="rId3" Type="http://schemas.openxmlformats.org/officeDocument/2006/relationships/image" Target="../media/image-21-3.jpg"/><Relationship Id="rId4" Type="http://schemas.openxmlformats.org/officeDocument/2006/relationships/image" Target="../media/image-21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BU 8301 · GROUP ASSESSMENT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Options vs CFDs: What Four Weeks of Trading Taught Us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80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Webull paper trading (options) · CFI demo account (CFDs) · 13 Sep – 14 Oct 2026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931920"/>
            <a:ext cx="3474720" cy="1645920"/>
          </a:xfrm>
          <a:prstGeom prst="roundRect">
            <a:avLst>
              <a:gd name="adj" fmla="val 6667"/>
            </a:avLst>
          </a:prstGeom>
          <a:solidFill>
            <a:srgbClr val="16243A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0690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−$17,466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7548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Webull options P/L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15 trades · −1.75% of $1M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3474720" cy="1645920"/>
          </a:xfrm>
          <a:prstGeom prst="roundRect">
            <a:avLst>
              <a:gd name="adj" fmla="val 6667"/>
            </a:avLst>
          </a:prstGeom>
          <a:solidFill>
            <a:srgbClr val="16243A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40690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9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+$18,410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47548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CFI CFD P/L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15 trades · +18.4% of $100k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0" y="3931920"/>
            <a:ext cx="3474720" cy="1645920"/>
          </a:xfrm>
          <a:prstGeom prst="roundRect">
            <a:avLst>
              <a:gd name="adj" fmla="val 6667"/>
            </a:avLst>
          </a:prstGeom>
          <a:solidFill>
            <a:srgbClr val="16243A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40690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0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47548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Trades across stocks, ETFs,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indices, commodities &amp; forex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bg2"/>
                </a:solidFill>
              </a:rPr>
              <a:t>Presented by: [Group member names &amp; IDs]</a:t>
            </a:r>
            <a:endParaRPr lang="en-US" sz="1400" dirty="0"/>
          </a:p>
        </p:txBody>
      </p:sp>
      <p:sp>
        <p:nvSpPr>
          <p:cNvPr id="16" name="Text 0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SLIDE 1 · INTRODUCTION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Asset Classes, Two Platforms, Opposite Results</a:t>
            </a:r>
            <a:endParaRPr lang="en-US" sz="3200" dirty="0"/>
          </a:p>
        </p:txBody>
      </p:sp>
      <p:sp>
        <p:nvSpPr>
          <p:cNvPr id="4" name="assets"/>
          <p:cNvSpPr/>
          <p:nvPr/>
        </p:nvSpPr>
        <p:spPr>
          <a:xfrm>
            <a:off x="548640" y="1508760"/>
            <a:ext cx="6035040" cy="4754880"/>
          </a:xfrm>
          <a:prstGeom prst="roundRect">
            <a:avLst>
              <a:gd name="adj" fmla="val 23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526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Why these asset classes (fundamental view)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2167128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16712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Stocks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240280" y="212140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NVDA, AAPL, MSFT, AMZN, TSLA, AMD: AI-driven earnings growth and very liquid options. PG, JPM, SONY, XMTR added sector diversification (staples, banks, electronics).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2990088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99008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ETFs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240280" y="294436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SPY, VOO, IWM, SPYV: a view on the whole US market (large and small caps) without single-stock risk.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3813048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81304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Indices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240280" y="376732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US100, US30, US500, UK100, JPN225 CFDs: trading the global equity trend.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4636008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E0A100"/>
          </a:solidFill>
          <a:ln w="12700">
            <a:solidFill>
              <a:srgbClr val="E0A1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63600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Commodities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240280" y="459028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Gold and silver as safe-haven hedges in an uncertain rate environment; WTI oil for supply-driven moves.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77240" y="5458968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545896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Forex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240280" y="541324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AUD/USD: a risk-on currency linked to commodity demand.</a:t>
            </a:r>
            <a:endParaRPr lang="en-US" sz="1300" dirty="0"/>
          </a:p>
        </p:txBody>
      </p:sp>
      <p:sp>
        <p:nvSpPr>
          <p:cNvPr id="21" name="results"/>
          <p:cNvSpPr/>
          <p:nvPr/>
        </p:nvSpPr>
        <p:spPr>
          <a:xfrm>
            <a:off x="6858000" y="1508760"/>
            <a:ext cx="4782312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526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086600" y="16459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Did the accounts grow?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21031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−1.75%</a:t>
            </a:r>
            <a:endParaRPr lang="en-US" sz="3400" dirty="0"/>
          </a:p>
        </p:txBody>
      </p:sp>
      <p:sp>
        <p:nvSpPr>
          <p:cNvPr id="24" name="Text 22"/>
          <p:cNvSpPr txBox="1"/>
          <p:nvPr/>
        </p:nvSpPr>
        <p:spPr>
          <a:xfrm>
            <a:off x="7086600" y="2743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Webull: $1,000,000 → $982,534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372600" y="21031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9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+18.4%</a:t>
            </a:r>
            <a:endParaRPr lang="en-US" sz="3400" dirty="0"/>
          </a:p>
        </p:txBody>
      </p:sp>
      <p:sp>
        <p:nvSpPr>
          <p:cNvPr id="26" name="Text 24"/>
          <p:cNvSpPr txBox="1"/>
          <p:nvPr/>
        </p:nvSpPr>
        <p:spPr>
          <a:xfrm>
            <a:off x="9372600" y="2743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CFI: $100,000 → $118,410</a:t>
            </a:r>
            <a:endParaRPr lang="en-US" sz="1300" dirty="0"/>
          </a:p>
        </p:txBody>
      </p:sp>
      <p:sp>
        <p:nvSpPr>
          <p:cNvPr id="27" name="trends"/>
          <p:cNvSpPr/>
          <p:nvPr/>
        </p:nvSpPr>
        <p:spPr>
          <a:xfrm>
            <a:off x="6858000" y="3749040"/>
            <a:ext cx="4782312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526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7086600" y="3840480"/>
            <a:ext cx="4434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Options: 3 of 15 winners. Short-dated, out-of-the-money contracts lost value to time decay.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CFDs: 10 of 14 closed trades won. One gold trade (+$47,024) drove most of the profit.</a:t>
            </a:r>
            <a:endParaRPr lang="en-US" sz="1300" dirty="0"/>
          </a:p>
        </p:txBody>
      </p:sp>
      <p:sp>
        <p:nvSpPr>
          <p:cNvPr id="29" name="ai"/>
          <p:cNvSpPr/>
          <p:nvPr/>
        </p:nvSpPr>
        <p:spPr>
          <a:xfrm>
            <a:off x="6858000" y="5303520"/>
            <a:ext cx="4782312" cy="960120"/>
          </a:xfrm>
          <a:prstGeom prst="roundRect">
            <a:avLst>
              <a:gd name="adj" fmla="val 11429"/>
            </a:avLst>
          </a:prstGeom>
          <a:solidFill>
            <a:srgbClr val="FFF4D6"/>
          </a:solidFill>
          <a:ln w="15875">
            <a:solidFill>
              <a:srgbClr val="E0A10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040880" y="534924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Use of AI: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[Edit: state Yes/No. If yes, name the tool (e.g. ChatGPT, CFI AI) and how it shaped trades. If no, say the analysis came from Webull and MT5 charts and market news.]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SLIDE 2 · ONE WINNING TRADE (WEBULL)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PG $152.5 Call: +$1,270 (+153%) in Two Days</a:t>
            </a:r>
            <a:endParaRPr lang="en-US" sz="3200" dirty="0"/>
          </a:p>
        </p:txBody>
      </p:sp>
      <p:sp>
        <p:nvSpPr>
          <p:cNvPr id="4" name="facts"/>
          <p:cNvSpPr/>
          <p:nvPr/>
        </p:nvSpPr>
        <p:spPr>
          <a:xfrm>
            <a:off x="548640" y="1508760"/>
            <a:ext cx="3291840" cy="475488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526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CONTRACT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202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PG $152.5 Call · exp 16 Oct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1343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BOUGHT · 12 OCT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4203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10 × $0.83 = $830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93522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SOLD · 14 OCT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16382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10 × $2.10 = $2,100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55701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ORDER TYPE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78561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Limit (sell limit $1.35, filled $2.10)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17880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PROFIT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40740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9F6E"/>
                </a:solidFill>
              </a:rPr>
              <a:t>+$1,270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8006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RETURN ON PREMIUM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50292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9F6E"/>
                </a:solidFill>
              </a:rPr>
              <a:t>+153%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542239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MAX RISK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65099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$830 (premium only)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114800" y="15087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Why it moved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0" y="1920240"/>
            <a:ext cx="39319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PG rose above the $152.5 strike, so the call gained intrinsic value: a $2.10 price two days before expiry means PG was trading around $154 or higher.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With only days to expiry the option had high delta and gamma, so a small move in PG gave a large % move in the premium.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We sold at the open instead of waiting, which locked in the gain before time decay could take it back.</a:t>
            </a:r>
            <a:endParaRPr lang="en-US" sz="1300" dirty="0"/>
          </a:p>
        </p:txBody>
      </p:sp>
      <p:sp>
        <p:nvSpPr>
          <p:cNvPr id="21" name="analysis"/>
          <p:cNvSpPr/>
          <p:nvPr/>
        </p:nvSpPr>
        <p:spPr>
          <a:xfrm>
            <a:off x="4114800" y="4617720"/>
            <a:ext cx="393192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526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4297680" y="4681728"/>
            <a:ext cx="361188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Fundamental: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PG is a defensive consumer-staples company with steady earnings and dividends, a stable stock to add next to our tech trades. Its quarterly results are due mid-October.
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Technical: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price was just below the strike, so a small breakout above $152.5 would put the call in the money.</a:t>
            </a:r>
            <a:endParaRPr lang="en-US" sz="1300" dirty="0"/>
          </a:p>
        </p:txBody>
      </p:sp>
      <p:pic>
        <p:nvPicPr>
          <p:cNvPr id="23" name="Image 0" descr="img/wb1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321040" y="1554480"/>
            <a:ext cx="1600200" cy="2377440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8321040" y="39776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Buy · filled 12 Oct</a:t>
            </a:r>
            <a:endParaRPr lang="en-US" sz="1100" dirty="0"/>
          </a:p>
        </p:txBody>
      </p:sp>
      <p:pic>
        <p:nvPicPr>
          <p:cNvPr id="25" name="Image 1" descr="img/wb26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012680" y="1554480"/>
            <a:ext cx="1600200" cy="237744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10012680" y="39776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Sell · filled 14 Oct</a:t>
            </a:r>
            <a:endParaRPr lang="en-US" sz="1100" dirty="0"/>
          </a:p>
        </p:txBody>
      </p:sp>
      <p:sp>
        <p:nvSpPr>
          <p:cNvPr id="27" name="callout"/>
          <p:cNvSpPr/>
          <p:nvPr/>
        </p:nvSpPr>
        <p:spPr>
          <a:xfrm>
            <a:off x="8321040" y="4434840"/>
            <a:ext cx="3319272" cy="1828800"/>
          </a:xfrm>
          <a:prstGeom prst="roundRect">
            <a:avLst>
              <a:gd name="adj" fmla="val 6000"/>
            </a:avLst>
          </a:prstGeom>
          <a:solidFill>
            <a:srgbClr val="E7F6EF"/>
          </a:solidFill>
          <a:ln w="12700">
            <a:solidFill>
              <a:srgbClr val="E7F6EF"/>
            </a:solidFill>
            <a:prstDash val="solid"/>
          </a:ln>
          <a:effectLst>
            <a:outerShdw sx="100000" sy="100000" kx="0" ky="0" algn="bl" rotWithShape="0" blurRad="101600" dist="25400" dir="5400000">
              <a:srgbClr val="0B1526">
                <a:alpha val="12000"/>
              </a:srgbClr>
            </a:outerShdw>
          </a:effectLst>
        </p:spPr>
      </p:sp>
      <p:sp>
        <p:nvSpPr>
          <p:cNvPr id="28" name="Text 24"/>
          <p:cNvSpPr txBox="1"/>
          <p:nvPr/>
        </p:nvSpPr>
        <p:spPr>
          <a:xfrm>
            <a:off x="8503920" y="4572000"/>
            <a:ext cx="2971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9F6E"/>
                </a:solidFill>
              </a:rPr>
              <a:t>Our biggest options win
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Also positive: SPY $770 call +$570 and AAPL $347.5 call +$40.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SLIDE 3 · ONE LOSING TRADE (WEBULL)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NVDA $220 Put: −$4,090, Our Largest Loss</a:t>
            </a:r>
            <a:endParaRPr lang="en-US" sz="3200" dirty="0"/>
          </a:p>
        </p:txBody>
      </p:sp>
      <p:sp>
        <p:nvSpPr>
          <p:cNvPr id="4" name="facts"/>
          <p:cNvSpPr/>
          <p:nvPr/>
        </p:nvSpPr>
        <p:spPr>
          <a:xfrm>
            <a:off x="548640" y="1508760"/>
            <a:ext cx="3291840" cy="475488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526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CONTRACT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202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NVDA $220 Put · exp 9 Oct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1343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BOUGHT · 24 SEP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4203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10 × $4.10 = $4,100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93522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SOLD · 9 OCT (EXPIRY)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16382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10 × $0.01 = $10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55701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ORDER TYPE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78561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Limit buy · market sell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17880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LOSS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40740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4545"/>
                </a:solidFill>
              </a:rPr>
              <a:t>−$4,090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8006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RETURN ON PREMIUM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50292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4545"/>
                </a:solidFill>
              </a:rPr>
              <a:t>−99.8%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542239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BREAKEVEN NEEDED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65099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NVDA below $215.90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114800" y="15087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Why it moved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0" y="1920240"/>
            <a:ext cx="39319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NVDA stayed above $220 until expiry, so the put finished out of the money and worthless.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Time decay (theta) ate the $4.10 premium every day NVDA failed to fall.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The put was bought to 'balance' our NVDA call, not because we expected a fall: a bet against the trend without a catalyst.</a:t>
            </a:r>
            <a:endParaRPr lang="en-US" sz="1300" dirty="0"/>
          </a:p>
        </p:txBody>
      </p:sp>
      <p:sp>
        <p:nvSpPr>
          <p:cNvPr id="21" name="analysis"/>
          <p:cNvSpPr/>
          <p:nvPr/>
        </p:nvSpPr>
        <p:spPr>
          <a:xfrm>
            <a:off x="4114800" y="4617720"/>
            <a:ext cx="393192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526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4297680" y="4681728"/>
            <a:ext cx="361188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Technical: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NVDA chart was trending up (the same reason we bought the $235 call), so the put went against the trend.
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Fundamental: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AI chip demand kept supporting NVDA; we had no bearish news to justify a put.</a:t>
            </a:r>
            <a:endParaRPr lang="en-US" sz="1300" dirty="0"/>
          </a:p>
        </p:txBody>
      </p:sp>
      <p:pic>
        <p:nvPicPr>
          <p:cNvPr id="23" name="Image 0" descr="img/wb1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321040" y="1554480"/>
            <a:ext cx="1600200" cy="2377440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8321040" y="39776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Buy · filled 24 Sep</a:t>
            </a:r>
            <a:endParaRPr lang="en-US" sz="1100" dirty="0"/>
          </a:p>
        </p:txBody>
      </p:sp>
      <p:pic>
        <p:nvPicPr>
          <p:cNvPr id="25" name="Image 1" descr="img/wb1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012680" y="1554480"/>
            <a:ext cx="1600200" cy="237744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10012680" y="39776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Sell · 9 Oct expiry</a:t>
            </a:r>
            <a:endParaRPr lang="en-US" sz="1100" dirty="0"/>
          </a:p>
        </p:txBody>
      </p:sp>
      <p:sp>
        <p:nvSpPr>
          <p:cNvPr id="27" name="lessons"/>
          <p:cNvSpPr/>
          <p:nvPr/>
        </p:nvSpPr>
        <p:spPr>
          <a:xfrm>
            <a:off x="8321040" y="4434840"/>
            <a:ext cx="3319272" cy="1828800"/>
          </a:xfrm>
          <a:prstGeom prst="roundRect">
            <a:avLst>
              <a:gd name="adj" fmla="val 6000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  <a:effectLst>
            <a:outerShdw sx="100000" sy="100000" kx="0" ky="0" algn="bl" rotWithShape="0" blurRad="101600" dist="25400" dir="5400000">
              <a:srgbClr val="0B1526">
                <a:alpha val="12000"/>
              </a:srgbClr>
            </a:outerShdw>
          </a:effectLst>
        </p:spPr>
      </p:sp>
      <p:sp>
        <p:nvSpPr>
          <p:cNvPr id="28" name="Text 24"/>
          <p:cNvSpPr txBox="1"/>
          <p:nvPr/>
        </p:nvSpPr>
        <p:spPr>
          <a:xfrm>
            <a:off x="8503920" y="4544568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64545"/>
                </a:solidFill>
              </a:rPr>
              <a:t>Lessons learned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Trade with a thesis, not to 'balance' a position.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Set an exit, e.g. sell at −50% of premium.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Don't hold to expiry and let it go to $0.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SLIDE 4 · RISK MANAGEMENT (1/2)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Option Bets, Big CFD Leverage</a:t>
            </a:r>
            <a:endParaRPr lang="en-US" sz="3200" dirty="0"/>
          </a:p>
        </p:txBody>
      </p:sp>
      <p:sp>
        <p:nvSpPr>
          <p:cNvPr id="4" name="opt-risk"/>
          <p:cNvSpPr/>
          <p:nvPr/>
        </p:nvSpPr>
        <p:spPr>
          <a:xfrm>
            <a:off x="548640" y="1508760"/>
            <a:ext cx="3566160" cy="47548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526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Webull options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6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$32,852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43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total premium paid = 3.3% of $1M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004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6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0.6%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8404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largest position ($5,780 SPY call)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343400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Matched a low risk appetite: the most we could ever lose was the premium. But 53% of that premium was lost because we chose short-dated, out-of-the-money contracts.</a:t>
            </a:r>
            <a:endParaRPr lang="en-US" sz="1300" dirty="0"/>
          </a:p>
        </p:txBody>
      </p:sp>
      <p:sp>
        <p:nvSpPr>
          <p:cNvPr id="11" name="cfd-risk"/>
          <p:cNvSpPr/>
          <p:nvPr/>
        </p:nvSpPr>
        <p:spPr>
          <a:xfrm>
            <a:off x="4315968" y="1508760"/>
            <a:ext cx="3566160" cy="47548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526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544568" y="1645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CFI CFDs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44568" y="21031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≈33×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4544568" y="2743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gold 8 lots ≈ $3.3M exposure on a $100k account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44568" y="32004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of 15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4544568" y="38404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trades opened with no stop-loss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44568" y="4343400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Above our risk appetite: a 3% fall in silver cost $18,608 and a 2% fall in the Nikkei cost $22,275. We handled losses by closing them manually, often too late.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92440" y="1508760"/>
          <a:ext cx="3547872" cy="914400"/>
        </p:xfrm>
        <a:graphic>
          <a:graphicData uri="http://schemas.openxmlformats.org/drawingml/2006/table">
            <a:tbl>
              <a:tblPr/>
              <a:tblGrid>
                <a:gridCol w="987552"/>
                <a:gridCol w="1280160"/>
                <a:gridCol w="12801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Options (Webull)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CFDs (CFI)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Max loss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Premium paid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Can exceed margin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Leverage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Built in, capped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High, margin-based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Time decay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Yes, works against buyers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None (swap only)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Payoff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Non-linear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Linear 1:1 with price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Our result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−$17,466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+$18,410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8092440" y="5166360"/>
            <a:ext cx="3547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Options risk is known up front; CFD risk grows with position size, so stops and sizing matter more.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SLIDE 4 · RISK MANAGEMENT (2/2)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Hedging vs Speculation on NVDA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What we did: bought 10 NVDA $220 puts for $4,100 as a pure bet on a fall, with no shares to protect. When NVDA stayed above $220, we lost 99.8% of the premium.</a:t>
            </a:r>
            <a:endParaRPr lang="en-US" sz="1500" dirty="0"/>
          </a:p>
        </p:txBody>
      </p:sp>
      <p:sp>
        <p:nvSpPr>
          <p:cNvPr id="5" name="hedge0"/>
          <p:cNvSpPr/>
          <p:nvPr/>
        </p:nvSpPr>
        <p:spPr>
          <a:xfrm>
            <a:off x="548640" y="2240280"/>
            <a:ext cx="3547872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526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377440"/>
            <a:ext cx="3182112" cy="457200"/>
          </a:xfrm>
          <a:prstGeom prst="roundRect">
            <a:avLst>
              <a:gd name="adj" fmla="val 16000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377440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Speculation (what we did)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260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Long 10 × $220 puts, no shares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47472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Cost: $4,100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Max loss: $4,100 (100%)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Max gain: large only if NVDA falls below $215.90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Result: −$4,090</a:t>
            </a:r>
            <a:endParaRPr lang="en-US" sz="1300" dirty="0"/>
          </a:p>
        </p:txBody>
      </p:sp>
      <p:sp>
        <p:nvSpPr>
          <p:cNvPr id="10" name="hedge1"/>
          <p:cNvSpPr/>
          <p:nvPr/>
        </p:nvSpPr>
        <p:spPr>
          <a:xfrm>
            <a:off x="4325112" y="2240280"/>
            <a:ext cx="3547872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526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07992" y="2377440"/>
            <a:ext cx="3182112" cy="4572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07992" y="2377440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Protective put (hedge)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53712" y="29260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Own 1,000 NVDA shares + buy 10 × $220 puts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53712" y="347472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Cost: $4,100 insurance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Max loss: (entry − $220) × 1,000 + $4,100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Max gain: unlimited upside, less $4,100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NVDA stayed up: shares gain, put expires as paid insurance</a:t>
            </a:r>
            <a:endParaRPr lang="en-US" sz="1300" dirty="0"/>
          </a:p>
        </p:txBody>
      </p:sp>
      <p:sp>
        <p:nvSpPr>
          <p:cNvPr id="15" name="hedge2"/>
          <p:cNvSpPr/>
          <p:nvPr/>
        </p:nvSpPr>
        <p:spPr>
          <a:xfrm>
            <a:off x="8101584" y="2240280"/>
            <a:ext cx="3547872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526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84464" y="2377440"/>
            <a:ext cx="3182112" cy="457200"/>
          </a:xfrm>
          <a:prstGeom prst="roundRect">
            <a:avLst>
              <a:gd name="adj" fmla="val 16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84464" y="2377440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Covered call (hedge)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30184" y="29260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Own 1,000 NVDA shares + sell 10 × $235 calls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330184" y="347472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Income: call premium received up front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Downside: cushioned only by that premium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Max gain: capped at $235 + premium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Suits a flat-to-slightly-up view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62356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E7F6EF"/>
          </a:solidFill>
          <a:ln w="12700">
            <a:solidFill>
              <a:srgbClr val="E7F6E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564184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Takeaway: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hedge accepts a small, known cost to protect a position we already own; speculation risks the whole premium on direction. A protective put caps loss and keeps upside; a covered call adds income but caps upside.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SLIDE 5 · CFDS ON CFI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CFDs: +$18,410 (+18.4%), With Big Swings</a:t>
            </a:r>
            <a:endParaRPr lang="en-US" sz="3200" dirty="0"/>
          </a:p>
        </p:txBody>
      </p:sp>
      <p:sp>
        <p:nvSpPr>
          <p:cNvPr id="4" name="what"/>
          <p:cNvSpPr/>
          <p:nvPr/>
        </p:nvSpPr>
        <p:spPr>
          <a:xfrm>
            <a:off x="548640" y="1508760"/>
            <a:ext cx="338328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526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What is a CFD?
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Contract for Difference: an agreement with the broker to exchange the change in an asset's price. You never own the asset, can go long or short, and trade on margin (leverage).</a:t>
            </a:r>
            <a:endParaRPr lang="en-US" sz="1800" dirty="0"/>
          </a:p>
        </p:txBody>
      </p:sp>
      <p:sp>
        <p:nvSpPr>
          <p:cNvPr id="6" name="bal"/>
          <p:cNvSpPr/>
          <p:nvPr/>
        </p:nvSpPr>
        <p:spPr>
          <a:xfrm>
            <a:off x="548640" y="3931920"/>
            <a:ext cx="338328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526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4069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$100,000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709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starting balance (demo 35224)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5120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9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$118,409.92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57607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ending balance (app screenshot)</a:t>
            </a:r>
            <a:endParaRPr lang="en-US" sz="1300" dirty="0"/>
          </a:p>
        </p:txBody>
      </p:sp>
      <p:sp>
        <p:nvSpPr>
          <p:cNvPr id="11" name="chart"/>
          <p:cNvSpPr/>
          <p:nvPr/>
        </p:nvSpPr>
        <p:spPr>
          <a:xfrm>
            <a:off x="4114800" y="1508760"/>
            <a:ext cx="7525512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526">
                <a:alpha val="12000"/>
              </a:srgbClr>
            </a:outerShdw>
          </a:effectLst>
        </p:spPr>
      </p:sp>
      <p:graphicFrame>
        <p:nvGraphicFramePr>
          <p:cNvPr id="12" name="Chart 0" descr=""/>
          <p:cNvGraphicFramePr/>
          <p:nvPr/>
        </p:nvGraphicFramePr>
        <p:xfrm>
          <a:off x="4206240" y="1572768"/>
          <a:ext cx="731520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tats"/>
          <p:cNvSpPr/>
          <p:nvPr/>
        </p:nvSpPr>
        <p:spPr>
          <a:xfrm>
            <a:off x="4114800" y="4709160"/>
            <a:ext cx="365760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526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4297680" y="480060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10 wins / 4 losses (71%); SPYV still open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Avg win $6,769 vs avg loss −$12,321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Gold +$52,326 · indices −$20,243 · silver −$18,608</a:t>
            </a:r>
            <a:endParaRPr lang="en-US" sz="1300" dirty="0"/>
          </a:p>
        </p:txBody>
      </p:sp>
      <p:sp>
        <p:nvSpPr>
          <p:cNvPr id="15" name="diff"/>
          <p:cNvSpPr/>
          <p:nvPr/>
        </p:nvSpPr>
        <p:spPr>
          <a:xfrm>
            <a:off x="7982712" y="4709160"/>
            <a:ext cx="365760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B1526">
                <a:alpha val="1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8165592" y="480060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How it differed from options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 premium, expiry or time decay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Profit/loss moves 1:1 with price × lot size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Losses are not capped by a premium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SLIDE 6 · REFLECTION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Size by Risk, Not by Confidence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2240280"/>
          </a:xfrm>
          <a:prstGeom prst="roundRect">
            <a:avLst>
              <a:gd name="adj" fmla="val 4898"/>
            </a:avLst>
          </a:prstGeom>
          <a:solidFill>
            <a:srgbClr val="16243A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457200" cy="457200"/>
          </a:xfrm>
          <a:prstGeom prst="ellipse">
            <a:avLst/>
          </a:prstGeom>
          <a:solidFill>
            <a:srgbClr val="E0A100"/>
          </a:solidFill>
          <a:ln w="12700">
            <a:solidFill>
              <a:srgbClr val="E0A1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830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Emotions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377440"/>
            <a:ext cx="4983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Losing $5,720 on our first two trades made us cautious (next trade: 1 contract). The +$47,024 gold win made us overconfident: on 12 Oct we opened six CFDs at once, and silver and the Nikkei then lost $26,900.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90488" y="1554480"/>
            <a:ext cx="5440680" cy="2240280"/>
          </a:xfrm>
          <a:prstGeom prst="roundRect">
            <a:avLst>
              <a:gd name="adj" fmla="val 4898"/>
            </a:avLst>
          </a:prstGeom>
          <a:solidFill>
            <a:srgbClr val="16243A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19088" y="1783080"/>
            <a:ext cx="457200" cy="457200"/>
          </a:xfrm>
          <a:prstGeom prst="ellipse">
            <a:avLst/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19088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13448" y="17830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Risk tolerance now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419088" y="2377440"/>
            <a:ext cx="4983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Lower than we thought. Losing a fixed premium felt manageable; watching a leveraged CFD fall 18% of the account in two days did not. We now prefer defined-risk trades.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440680" cy="2240280"/>
          </a:xfrm>
          <a:prstGeom prst="roundRect">
            <a:avLst>
              <a:gd name="adj" fmla="val 4898"/>
            </a:avLst>
          </a:prstGeom>
          <a:solidFill>
            <a:srgbClr val="16243A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206240"/>
            <a:ext cx="457200" cy="457200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2062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Biggest lesson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800600"/>
            <a:ext cx="4983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Decide the exit before the entry. Set a stop-loss and take-profit on every CFD and a loss limit on every option, and keep each trade to 1–2% of capital at risk.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90488" y="3977640"/>
            <a:ext cx="5440680" cy="2240280"/>
          </a:xfrm>
          <a:prstGeom prst="roundRect">
            <a:avLst>
              <a:gd name="adj" fmla="val 4898"/>
            </a:avLst>
          </a:prstGeom>
          <a:solidFill>
            <a:srgbClr val="16243A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19088" y="4206240"/>
            <a:ext cx="457200" cy="45720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19088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013448" y="42062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What we still need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419088" y="4800600"/>
            <a:ext cx="4983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Option Greeks (theta, delta), choosing 30–45-day expiries, position-sizing rules, an economic calendar, and the CFI Academy courses on MT5 risk tools.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APPENDIX A · WEBULL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Webull Options Trade Log (15 Trades)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58952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777240"/>
                <a:gridCol w="731520"/>
                <a:gridCol w="594360"/>
                <a:gridCol w="777240"/>
                <a:gridCol w="822960"/>
                <a:gridCol w="868680"/>
                <a:gridCol w="777240"/>
                <a:gridCol w="685800"/>
                <a:gridCol w="11430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Opened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Ticker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Strike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Premium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Contracts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Closed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Exit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P/L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21 Sep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AMD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Put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$605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$1.92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20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21 Sep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$0.01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64545"/>
                          </a:solidFill>
                        </a:rPr>
                        <a:t>−$3,820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21 Sep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TSLA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Call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$377.5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$0.96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20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21 Sep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$0.01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64545"/>
                          </a:solidFill>
                        </a:rPr>
                        <a:t>−$1,900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22 Sep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NVDA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Call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$235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$0.16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23 Sep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$0.01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64545"/>
                          </a:solidFill>
                        </a:rPr>
                        <a:t>−$15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24 Sep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SPY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Call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$770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$0.14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24 Sep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$0.13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64545"/>
                          </a:solidFill>
                        </a:rPr>
                        <a:t>−$10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24 Sep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VOO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Call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$710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$4.50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9 Oct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$2.60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64545"/>
                          </a:solidFill>
                        </a:rPr>
                        <a:t>−$1,900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24 Sep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NVDA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Put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$220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$4.10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9 Oct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$0.01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64545"/>
                          </a:solidFill>
                        </a:rPr>
                        <a:t>−$4,090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24 Sep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SPY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Call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$770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$5.78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9 Oct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$6.35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9F6E"/>
                          </a:solidFill>
                        </a:rPr>
                        <a:t>+$570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12 Oct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IWM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Call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$279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$0.59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20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12 Oct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$0.01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64545"/>
                          </a:solidFill>
                        </a:rPr>
                        <a:t>−$1,160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12 Oct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PG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Call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$152.5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$0.83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14 Oct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$2.10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9F6E"/>
                          </a:solidFill>
                        </a:rPr>
                        <a:t>+$1,270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11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14 Oct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SONY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Call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$24.5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$0.30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14 Oct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$0.05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64545"/>
                          </a:solidFill>
                        </a:rPr>
                        <a:t>−$250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12 Oct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XMTR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Call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$115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$2.10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14 Oct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$0.00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64545"/>
                          </a:solidFill>
                        </a:rPr>
                        <a:t>−$2,100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13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12 Oct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JPM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Put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$330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$4.40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14 Oct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$3.25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64545"/>
                          </a:solidFill>
                        </a:rPr>
                        <a:t>−$1,150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14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12 Oct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AMZN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Call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$265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$2.06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14 Oct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$0.05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64545"/>
                          </a:solidFill>
                        </a:rPr>
                        <a:t>−$1,206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15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12 Oct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MSFT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Put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$532.5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$3.80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14 Oct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$0.31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64545"/>
                          </a:solidFill>
                        </a:rPr>
                        <a:t>−$1,745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16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14 Oct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AAPL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Call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$347.5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$0.61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14 Oct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$0.65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9F6E"/>
                          </a:solidFill>
                        </a:rPr>
                        <a:t>+$40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 gridSpan="9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</a:rPr>
                        <a:t>Total realised P/L (all Buy-to-open)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64545"/>
                          </a:solidFill>
                        </a:rPr>
                        <a:t>−$17,466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8321040" y="1463040"/>
          <a:ext cx="338328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APPENDIX B · CFI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CFI CFD Trade Log (All Long)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94944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234440"/>
                <a:gridCol w="868680"/>
                <a:gridCol w="640080"/>
                <a:gridCol w="960120"/>
                <a:gridCol w="960120"/>
                <a:gridCol w="18745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Instrument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Class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Lots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Opened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Closed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P&amp;L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US100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Index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30 Sep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 Oct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9F6E"/>
                          </a:solidFill>
                        </a:rPr>
                        <a:t>+$3,253.80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US30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Index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 Oct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2 Oct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9F6E"/>
                          </a:solidFill>
                        </a:rPr>
                        <a:t>+$3,738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XAUUSD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Gold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2 Oct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2 Oct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9F6E"/>
                          </a:solidFill>
                        </a:rPr>
                        <a:t>+$1,036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US100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Index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2 Oct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2 Oct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9F6E"/>
                          </a:solidFill>
                        </a:rPr>
                        <a:t>+$1,117.80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US500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Index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n/a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6 Oct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9F6E"/>
                          </a:solidFill>
                        </a:rPr>
                        <a:t>+$528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XAUUSD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Gold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6 Oct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6 Oct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9F6E"/>
                          </a:solidFill>
                        </a:rPr>
                        <a:t>+$4,266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XAUUSD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Gold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7 Oct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9 Oct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9F6E"/>
                          </a:solidFill>
                        </a:rPr>
                        <a:t>+$47,024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JPN225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Index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7 Oct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12 Oct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64545"/>
                          </a:solidFill>
                        </a:rPr>
                        <a:t>−$22,275.48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UK100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Index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12 Oct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12 Oct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9F6E"/>
                          </a:solidFill>
                        </a:rPr>
                        <a:t>+$1,795.25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WTI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Oil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12 Oct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12 Oct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9F6E"/>
                          </a:solidFill>
                        </a:rPr>
                        <a:t>+$4,265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11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AUDUSD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Forex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12 Oct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13 Oct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9F6E"/>
                          </a:solidFill>
                        </a:rPr>
                        <a:t>+$670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XAGUSD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Silver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12 Oct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14 Oct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64545"/>
                          </a:solidFill>
                        </a:rPr>
                        <a:t>−$18,608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13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US500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Index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12 Oct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14 Oct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64545"/>
                          </a:solidFill>
                        </a:rPr>
                        <a:t>−$108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14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JPN225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Index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12 Oct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14 Oct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64545"/>
                          </a:solidFill>
                        </a:rPr>
                        <a:t>−$8,292.45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15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SPYV.ETF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ETF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29 Sep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open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</a:rPr>
                        <a:t>Open (+$2.50 unrealised)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 gridSpan="6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</a:rPr>
                        <a:t>Net P&amp;L on 14 closed trades ($100,000 → $118,409.92)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9F6E"/>
                          </a:solidFill>
                        </a:rPr>
                        <a:t>+$18,409.92</a:t>
                      </a:r>
                      <a:endParaRPr lang="en-US" sz="1100" dirty="0"/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7772400" y="1463040"/>
          <a:ext cx="393192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APPENDIX C · WEBULL SCREENSHOTS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Trades #2 &amp; #3: Buy and Sell Orders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4545"/>
                </a:solidFill>
              </a:rPr>
              <a:t>#2  AMD $605 Put   −$3,820</a:t>
            </a:r>
            <a:endParaRPr lang="en-US" sz="1500" dirty="0"/>
          </a:p>
        </p:txBody>
      </p:sp>
      <p:pic>
        <p:nvPicPr>
          <p:cNvPr id="5" name="Image 0" descr="img/wb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874520"/>
            <a:ext cx="2606040" cy="4434840"/>
          </a:xfrm>
          <a:prstGeom prst="rect">
            <a:avLst/>
          </a:prstGeom>
        </p:spPr>
      </p:pic>
      <p:pic>
        <p:nvPicPr>
          <p:cNvPr id="6" name="Image 1" descr="img/wb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91840" y="1874520"/>
            <a:ext cx="2606040" cy="44348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17920" y="14173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4545"/>
                </a:solidFill>
              </a:rPr>
              <a:t>#3  TSLA $377.5 Call   −$1,900</a:t>
            </a:r>
            <a:endParaRPr lang="en-US" sz="1500" dirty="0"/>
          </a:p>
        </p:txBody>
      </p:sp>
      <p:pic>
        <p:nvPicPr>
          <p:cNvPr id="8" name="Image 2" descr="img/wb3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17920" y="1874520"/>
            <a:ext cx="2606040" cy="4434840"/>
          </a:xfrm>
          <a:prstGeom prst="rect">
            <a:avLst/>
          </a:prstGeom>
        </p:spPr>
      </p:pic>
      <p:pic>
        <p:nvPicPr>
          <p:cNvPr id="9" name="Image 3" descr="img/wb4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961120" y="1874520"/>
            <a:ext cx="2606040" cy="44348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APPENDIX C · WEBULL SCREENSHOTS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Trades #4 &amp; #5: Buy and Sell Orders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4545"/>
                </a:solidFill>
              </a:rPr>
              <a:t>#4  NVDA $235 Call   −$15</a:t>
            </a:r>
            <a:endParaRPr lang="en-US" sz="1500" dirty="0"/>
          </a:p>
        </p:txBody>
      </p:sp>
      <p:pic>
        <p:nvPicPr>
          <p:cNvPr id="5" name="Image 0" descr="img/wb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874520"/>
            <a:ext cx="2606040" cy="4434840"/>
          </a:xfrm>
          <a:prstGeom prst="rect">
            <a:avLst/>
          </a:prstGeom>
        </p:spPr>
      </p:pic>
      <p:pic>
        <p:nvPicPr>
          <p:cNvPr id="6" name="Image 1" descr="img/wb6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91840" y="1874520"/>
            <a:ext cx="2606040" cy="44348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17920" y="14173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4545"/>
                </a:solidFill>
              </a:rPr>
              <a:t>#5  SPY $770 Call   −$10</a:t>
            </a:r>
            <a:endParaRPr lang="en-US" sz="1500" dirty="0"/>
          </a:p>
        </p:txBody>
      </p:sp>
      <p:pic>
        <p:nvPicPr>
          <p:cNvPr id="8" name="Image 2" descr="img/wb7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17920" y="1874520"/>
            <a:ext cx="2606040" cy="4434840"/>
          </a:xfrm>
          <a:prstGeom prst="rect">
            <a:avLst/>
          </a:prstGeom>
        </p:spPr>
      </p:pic>
      <p:pic>
        <p:nvPicPr>
          <p:cNvPr id="9" name="Image 3" descr="img/wb8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961120" y="1874520"/>
            <a:ext cx="2606040" cy="44348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APPENDIX C · WEBULL SCREENSHOTS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Trades #6 &amp; #7: Buy and Sell Orders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4545"/>
                </a:solidFill>
              </a:rPr>
              <a:t>#6  VOO $710 Call   −$1,900</a:t>
            </a:r>
            <a:endParaRPr lang="en-US" sz="1500" dirty="0"/>
          </a:p>
        </p:txBody>
      </p:sp>
      <p:pic>
        <p:nvPicPr>
          <p:cNvPr id="5" name="Image 0" descr="img/wb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874520"/>
            <a:ext cx="2606040" cy="4434840"/>
          </a:xfrm>
          <a:prstGeom prst="rect">
            <a:avLst/>
          </a:prstGeom>
        </p:spPr>
      </p:pic>
      <p:pic>
        <p:nvPicPr>
          <p:cNvPr id="6" name="Image 1" descr="img/wb10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91840" y="1874520"/>
            <a:ext cx="2606040" cy="44348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17920" y="14173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4545"/>
                </a:solidFill>
              </a:rPr>
              <a:t>#7  NVDA $220 Put   −$4,090</a:t>
            </a:r>
            <a:endParaRPr lang="en-US" sz="1500" dirty="0"/>
          </a:p>
        </p:txBody>
      </p:sp>
      <p:pic>
        <p:nvPicPr>
          <p:cNvPr id="8" name="Image 2" descr="img/wb11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17920" y="1874520"/>
            <a:ext cx="2606040" cy="4434840"/>
          </a:xfrm>
          <a:prstGeom prst="rect">
            <a:avLst/>
          </a:prstGeom>
        </p:spPr>
      </p:pic>
      <p:pic>
        <p:nvPicPr>
          <p:cNvPr id="9" name="Image 3" descr="img/wb12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961120" y="1874520"/>
            <a:ext cx="2606040" cy="44348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APPENDIX C · WEBULL SCREENSHOTS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Trades #8 &amp; #9: Buy and Sell Orders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9F6E"/>
                </a:solidFill>
              </a:rPr>
              <a:t>#8  SPY $770 Call   +$570</a:t>
            </a:r>
            <a:endParaRPr lang="en-US" sz="1500" dirty="0"/>
          </a:p>
        </p:txBody>
      </p:sp>
      <p:pic>
        <p:nvPicPr>
          <p:cNvPr id="5" name="Image 0" descr="img/wb1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874520"/>
            <a:ext cx="2606040" cy="4434840"/>
          </a:xfrm>
          <a:prstGeom prst="rect">
            <a:avLst/>
          </a:prstGeom>
        </p:spPr>
      </p:pic>
      <p:pic>
        <p:nvPicPr>
          <p:cNvPr id="6" name="Image 1" descr="img/wb14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91840" y="1874520"/>
            <a:ext cx="2606040" cy="44348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17920" y="14173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4545"/>
                </a:solidFill>
              </a:rPr>
              <a:t>#9  IWM $279 Call   −$1,160</a:t>
            </a:r>
            <a:endParaRPr lang="en-US" sz="1500" dirty="0"/>
          </a:p>
        </p:txBody>
      </p:sp>
      <p:pic>
        <p:nvPicPr>
          <p:cNvPr id="8" name="Image 2" descr="img/wb15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17920" y="1874520"/>
            <a:ext cx="2606040" cy="4434840"/>
          </a:xfrm>
          <a:prstGeom prst="rect">
            <a:avLst/>
          </a:prstGeom>
        </p:spPr>
      </p:pic>
      <p:pic>
        <p:nvPicPr>
          <p:cNvPr id="9" name="Image 3" descr="img/wb16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961120" y="1874520"/>
            <a:ext cx="2606040" cy="44348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APPENDIX C · WEBULL SCREENSHOTS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Trades #10 &amp; #11: Buy and Sell Orders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9F6E"/>
                </a:solidFill>
              </a:rPr>
              <a:t>#10  PG $152.5 Call   +$1,270</a:t>
            </a:r>
            <a:endParaRPr lang="en-US" sz="1500" dirty="0"/>
          </a:p>
        </p:txBody>
      </p:sp>
      <p:pic>
        <p:nvPicPr>
          <p:cNvPr id="5" name="Image 0" descr="img/wb1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874520"/>
            <a:ext cx="2606040" cy="4434840"/>
          </a:xfrm>
          <a:prstGeom prst="rect">
            <a:avLst/>
          </a:prstGeom>
        </p:spPr>
      </p:pic>
      <p:pic>
        <p:nvPicPr>
          <p:cNvPr id="6" name="Image 1" descr="img/wb26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91840" y="1874520"/>
            <a:ext cx="2606040" cy="44348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17920" y="14173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4545"/>
                </a:solidFill>
              </a:rPr>
              <a:t>#11  SONY $24.5 Call   −$250</a:t>
            </a:r>
            <a:endParaRPr lang="en-US" sz="1500" dirty="0"/>
          </a:p>
        </p:txBody>
      </p:sp>
      <p:pic>
        <p:nvPicPr>
          <p:cNvPr id="8" name="Image 2" descr="img/wb22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17920" y="1874520"/>
            <a:ext cx="2606040" cy="4434840"/>
          </a:xfrm>
          <a:prstGeom prst="rect">
            <a:avLst/>
          </a:prstGeom>
        </p:spPr>
      </p:pic>
      <p:pic>
        <p:nvPicPr>
          <p:cNvPr id="9" name="Image 3" descr="img/wb23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961120" y="1874520"/>
            <a:ext cx="2606040" cy="44348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APPENDIX C · WEBULL SCREENSHOTS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Trades #12 &amp; #13: Buy and Sell Orders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4545"/>
                </a:solidFill>
              </a:rPr>
              <a:t>#12  XMTR $115 Call   −$2,100</a:t>
            </a:r>
            <a:endParaRPr lang="en-US" sz="1500" dirty="0"/>
          </a:p>
        </p:txBody>
      </p:sp>
      <p:pic>
        <p:nvPicPr>
          <p:cNvPr id="5" name="Image 0" descr="img/wb1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874520"/>
            <a:ext cx="2606040" cy="4434840"/>
          </a:xfrm>
          <a:prstGeom prst="rect">
            <a:avLst/>
          </a:prstGeom>
        </p:spPr>
      </p:pic>
      <p:pic>
        <p:nvPicPr>
          <p:cNvPr id="6" name="Image 1" descr="img/wb27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91840" y="1874520"/>
            <a:ext cx="2606040" cy="44348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17920" y="14173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4545"/>
                </a:solidFill>
              </a:rPr>
              <a:t>#13  JPM $330 Put   −$1,150</a:t>
            </a:r>
            <a:endParaRPr lang="en-US" sz="1500" dirty="0"/>
          </a:p>
        </p:txBody>
      </p:sp>
      <p:pic>
        <p:nvPicPr>
          <p:cNvPr id="8" name="Image 2" descr="img/wb19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17920" y="1874520"/>
            <a:ext cx="2606040" cy="4434840"/>
          </a:xfrm>
          <a:prstGeom prst="rect">
            <a:avLst/>
          </a:prstGeom>
        </p:spPr>
      </p:pic>
      <p:pic>
        <p:nvPicPr>
          <p:cNvPr id="9" name="Image 3" descr="img/wb28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961120" y="1874520"/>
            <a:ext cx="2606040" cy="44348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APPENDIX C · WEBULL SCREENSHOTS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Trades #14 &amp; #15: Buy and Sell Orders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4545"/>
                </a:solidFill>
              </a:rPr>
              <a:t>#14  AMZN $265 Call   −$1,206</a:t>
            </a:r>
            <a:endParaRPr lang="en-US" sz="1500" dirty="0"/>
          </a:p>
        </p:txBody>
      </p:sp>
      <p:pic>
        <p:nvPicPr>
          <p:cNvPr id="5" name="Image 0" descr="img/wb2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874520"/>
            <a:ext cx="2606040" cy="4434840"/>
          </a:xfrm>
          <a:prstGeom prst="rect">
            <a:avLst/>
          </a:prstGeom>
        </p:spPr>
      </p:pic>
      <p:pic>
        <p:nvPicPr>
          <p:cNvPr id="6" name="Image 1" descr="img/wb29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91840" y="1874520"/>
            <a:ext cx="2606040" cy="44348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17920" y="14173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4545"/>
                </a:solidFill>
              </a:rPr>
              <a:t>#15  MSFT $532.5 Put   −$1,745</a:t>
            </a:r>
            <a:endParaRPr lang="en-US" sz="1500" dirty="0"/>
          </a:p>
        </p:txBody>
      </p:sp>
      <p:pic>
        <p:nvPicPr>
          <p:cNvPr id="8" name="Image 2" descr="img/wb21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17920" y="1874520"/>
            <a:ext cx="2606040" cy="4434840"/>
          </a:xfrm>
          <a:prstGeom prst="rect">
            <a:avLst/>
          </a:prstGeom>
        </p:spPr>
      </p:pic>
      <p:pic>
        <p:nvPicPr>
          <p:cNvPr id="9" name="Image 3" descr="img/wb30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961120" y="1874520"/>
            <a:ext cx="2606040" cy="44348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APPENDIX C · WEBULL SCREENSHOTS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 #16: Buy and Sell Orders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9F6E"/>
                </a:solidFill>
              </a:rPr>
              <a:t>#16  AAPL $347.5 Call   +$40</a:t>
            </a:r>
            <a:endParaRPr lang="en-US" sz="1500" dirty="0"/>
          </a:p>
        </p:txBody>
      </p:sp>
      <p:pic>
        <p:nvPicPr>
          <p:cNvPr id="5" name="Image 0" descr="img/wb2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874520"/>
            <a:ext cx="2606040" cy="4434840"/>
          </a:xfrm>
          <a:prstGeom prst="rect">
            <a:avLst/>
          </a:prstGeom>
        </p:spPr>
      </p:pic>
      <p:pic>
        <p:nvPicPr>
          <p:cNvPr id="6" name="Image 1" descr="img/wb25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91840" y="1874520"/>
            <a:ext cx="2606040" cy="44348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APPENDIX D · CFI SCREENSHOTS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CFI History Screenshots (1 of 3)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#1 · Buy</a:t>
            </a:r>
            <a:endParaRPr lang="en-US" sz="1000" dirty="0"/>
          </a:p>
        </p:txBody>
      </p:sp>
      <p:pic>
        <p:nvPicPr>
          <p:cNvPr id="5" name="Image 0" descr="img/cfi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" y="1664208"/>
            <a:ext cx="1609344" cy="21945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414016" y="14173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#1 · Sell</a:t>
            </a:r>
            <a:endParaRPr lang="en-US" sz="1000" dirty="0"/>
          </a:p>
        </p:txBody>
      </p:sp>
      <p:pic>
        <p:nvPicPr>
          <p:cNvPr id="7" name="Image 1" descr="img/cfi1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478024" y="1664208"/>
            <a:ext cx="1609344" cy="21945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279392" y="14173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#2 · Buy</a:t>
            </a:r>
            <a:endParaRPr lang="en-US" sz="1000" dirty="0"/>
          </a:p>
        </p:txBody>
      </p:sp>
      <p:pic>
        <p:nvPicPr>
          <p:cNvPr id="9" name="Image 2" descr="img/cfi2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43400" y="1664208"/>
            <a:ext cx="1609344" cy="219456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144768" y="14173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#2 · Sell</a:t>
            </a:r>
            <a:endParaRPr lang="en-US" sz="1000" dirty="0"/>
          </a:p>
        </p:txBody>
      </p:sp>
      <p:pic>
        <p:nvPicPr>
          <p:cNvPr id="11" name="Image 3" descr="img/cfi3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208776" y="1664208"/>
            <a:ext cx="1609344" cy="219456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010144" y="14173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#3 · Buy</a:t>
            </a:r>
            <a:endParaRPr lang="en-US" sz="1000" dirty="0"/>
          </a:p>
        </p:txBody>
      </p:sp>
      <p:pic>
        <p:nvPicPr>
          <p:cNvPr id="13" name="Image 4" descr="img/cfi4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074152" y="1664208"/>
            <a:ext cx="1609344" cy="219456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9875520" y="14173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#3 · Sell</a:t>
            </a:r>
            <a:endParaRPr lang="en-US" sz="1000" dirty="0"/>
          </a:p>
        </p:txBody>
      </p:sp>
      <p:pic>
        <p:nvPicPr>
          <p:cNvPr id="15" name="Image 5" descr="img/cfi5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939528" y="1664208"/>
            <a:ext cx="1609344" cy="2194560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548640" y="39319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#4 · Buy</a:t>
            </a:r>
            <a:endParaRPr lang="en-US" sz="1000" dirty="0"/>
          </a:p>
        </p:txBody>
      </p:sp>
      <p:pic>
        <p:nvPicPr>
          <p:cNvPr id="17" name="Image 6" descr="img/cfi6.jp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12648" y="4178808"/>
            <a:ext cx="1609344" cy="2194560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2414016" y="39319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#4 · Sell</a:t>
            </a:r>
            <a:endParaRPr lang="en-US" sz="1000" dirty="0"/>
          </a:p>
        </p:txBody>
      </p:sp>
      <p:pic>
        <p:nvPicPr>
          <p:cNvPr id="19" name="Image 7" descr="img/cfi7.jp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2478024" y="4178808"/>
            <a:ext cx="1609344" cy="2194560"/>
          </a:xfrm>
          <a:prstGeom prst="rect">
            <a:avLst/>
          </a:prstGeom>
        </p:spPr>
      </p:pic>
      <p:sp>
        <p:nvSpPr>
          <p:cNvPr id="20" name="Text 10"/>
          <p:cNvSpPr txBox="1"/>
          <p:nvPr/>
        </p:nvSpPr>
        <p:spPr>
          <a:xfrm>
            <a:off x="4279392" y="39319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#5 · Sell</a:t>
            </a:r>
            <a:endParaRPr lang="en-US" sz="1000" dirty="0"/>
          </a:p>
        </p:txBody>
      </p:sp>
      <p:pic>
        <p:nvPicPr>
          <p:cNvPr id="21" name="Image 8" descr="img/cfi8.jp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4343400" y="4178808"/>
            <a:ext cx="1609344" cy="2194560"/>
          </a:xfrm>
          <a:prstGeom prst="rect">
            <a:avLst/>
          </a:prstGeom>
        </p:spPr>
      </p:pic>
      <p:sp>
        <p:nvSpPr>
          <p:cNvPr id="22" name="Text 11"/>
          <p:cNvSpPr txBox="1"/>
          <p:nvPr/>
        </p:nvSpPr>
        <p:spPr>
          <a:xfrm>
            <a:off x="6144768" y="39319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#6 · Buy</a:t>
            </a:r>
            <a:endParaRPr lang="en-US" sz="1000" dirty="0"/>
          </a:p>
        </p:txBody>
      </p:sp>
      <p:pic>
        <p:nvPicPr>
          <p:cNvPr id="23" name="Image 9" descr="img/cfi9.jp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6208776" y="4178808"/>
            <a:ext cx="1609344" cy="2194560"/>
          </a:xfrm>
          <a:prstGeom prst="rect">
            <a:avLst/>
          </a:prstGeom>
        </p:spPr>
      </p:pic>
      <p:sp>
        <p:nvSpPr>
          <p:cNvPr id="24" name="Text 12"/>
          <p:cNvSpPr txBox="1"/>
          <p:nvPr/>
        </p:nvSpPr>
        <p:spPr>
          <a:xfrm>
            <a:off x="8010144" y="39319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#6 · Sell</a:t>
            </a:r>
            <a:endParaRPr lang="en-US" sz="1000" dirty="0"/>
          </a:p>
        </p:txBody>
      </p:sp>
      <p:pic>
        <p:nvPicPr>
          <p:cNvPr id="25" name="Image 10" descr="img/cfi10.jp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8074152" y="4178808"/>
            <a:ext cx="1609344" cy="2194560"/>
          </a:xfrm>
          <a:prstGeom prst="rect">
            <a:avLst/>
          </a:prstGeom>
        </p:spPr>
      </p:pic>
      <p:sp>
        <p:nvSpPr>
          <p:cNvPr id="26" name="Text 13"/>
          <p:cNvSpPr txBox="1"/>
          <p:nvPr/>
        </p:nvSpPr>
        <p:spPr>
          <a:xfrm>
            <a:off x="9875520" y="39319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#7 · Buy</a:t>
            </a:r>
            <a:endParaRPr lang="en-US" sz="1000" dirty="0"/>
          </a:p>
        </p:txBody>
      </p:sp>
      <p:pic>
        <p:nvPicPr>
          <p:cNvPr id="27" name="Image 11" descr="img/cfi11.jp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9939528" y="4178808"/>
            <a:ext cx="1609344" cy="2194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APPENDIX D · CFI SCREENSHOTS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CFI History Screenshots (2 of 3)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#7 · Sell</a:t>
            </a:r>
            <a:endParaRPr lang="en-US" sz="1000" dirty="0"/>
          </a:p>
        </p:txBody>
      </p:sp>
      <p:pic>
        <p:nvPicPr>
          <p:cNvPr id="5" name="Image 0" descr="img/cfi1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" y="1664208"/>
            <a:ext cx="1609344" cy="21945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414016" y="14173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#8 · Buy</a:t>
            </a:r>
            <a:endParaRPr lang="en-US" sz="1000" dirty="0"/>
          </a:p>
        </p:txBody>
      </p:sp>
      <p:pic>
        <p:nvPicPr>
          <p:cNvPr id="7" name="Image 1" descr="img/cfi13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478024" y="1664208"/>
            <a:ext cx="1609344" cy="21945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279392" y="14173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#8 · Sell</a:t>
            </a:r>
            <a:endParaRPr lang="en-US" sz="1000" dirty="0"/>
          </a:p>
        </p:txBody>
      </p:sp>
      <p:pic>
        <p:nvPicPr>
          <p:cNvPr id="9" name="Image 2" descr="img/cfi14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43400" y="1664208"/>
            <a:ext cx="1609344" cy="219456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144768" y="14173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#9 · Buy</a:t>
            </a:r>
            <a:endParaRPr lang="en-US" sz="1000" dirty="0"/>
          </a:p>
        </p:txBody>
      </p:sp>
      <p:pic>
        <p:nvPicPr>
          <p:cNvPr id="11" name="Image 3" descr="img/cfi15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208776" y="1664208"/>
            <a:ext cx="1609344" cy="219456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010144" y="14173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#9 · Sell</a:t>
            </a:r>
            <a:endParaRPr lang="en-US" sz="1000" dirty="0"/>
          </a:p>
        </p:txBody>
      </p:sp>
      <p:pic>
        <p:nvPicPr>
          <p:cNvPr id="13" name="Image 4" descr="img/cfi16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074152" y="1664208"/>
            <a:ext cx="1609344" cy="219456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9875520" y="14173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#10 · Buy</a:t>
            </a:r>
            <a:endParaRPr lang="en-US" sz="1000" dirty="0"/>
          </a:p>
        </p:txBody>
      </p:sp>
      <p:pic>
        <p:nvPicPr>
          <p:cNvPr id="15" name="Image 5" descr="img/cfi17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939528" y="1664208"/>
            <a:ext cx="1609344" cy="2194560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548640" y="39319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#10 · Sell</a:t>
            </a:r>
            <a:endParaRPr lang="en-US" sz="1000" dirty="0"/>
          </a:p>
        </p:txBody>
      </p:sp>
      <p:pic>
        <p:nvPicPr>
          <p:cNvPr id="17" name="Image 6" descr="img/cfi18.jp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12648" y="4178808"/>
            <a:ext cx="1609344" cy="2194560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2414016" y="39319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#11 · Buy</a:t>
            </a:r>
            <a:endParaRPr lang="en-US" sz="1000" dirty="0"/>
          </a:p>
        </p:txBody>
      </p:sp>
      <p:pic>
        <p:nvPicPr>
          <p:cNvPr id="19" name="Image 7" descr="img/cfi19.jp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2478024" y="4178808"/>
            <a:ext cx="1609344" cy="2194560"/>
          </a:xfrm>
          <a:prstGeom prst="rect">
            <a:avLst/>
          </a:prstGeom>
        </p:spPr>
      </p:pic>
      <p:sp>
        <p:nvSpPr>
          <p:cNvPr id="20" name="Text 10"/>
          <p:cNvSpPr txBox="1"/>
          <p:nvPr/>
        </p:nvSpPr>
        <p:spPr>
          <a:xfrm>
            <a:off x="4279392" y="39319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#11 · Sell</a:t>
            </a:r>
            <a:endParaRPr lang="en-US" sz="1000" dirty="0"/>
          </a:p>
        </p:txBody>
      </p:sp>
      <p:pic>
        <p:nvPicPr>
          <p:cNvPr id="21" name="Image 8" descr="img/cfi20.jp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4343400" y="4178808"/>
            <a:ext cx="1609344" cy="2194560"/>
          </a:xfrm>
          <a:prstGeom prst="rect">
            <a:avLst/>
          </a:prstGeom>
        </p:spPr>
      </p:pic>
      <p:sp>
        <p:nvSpPr>
          <p:cNvPr id="22" name="Text 11"/>
          <p:cNvSpPr txBox="1"/>
          <p:nvPr/>
        </p:nvSpPr>
        <p:spPr>
          <a:xfrm>
            <a:off x="6144768" y="39319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#12 · Buy</a:t>
            </a:r>
            <a:endParaRPr lang="en-US" sz="1000" dirty="0"/>
          </a:p>
        </p:txBody>
      </p:sp>
      <p:pic>
        <p:nvPicPr>
          <p:cNvPr id="23" name="Image 9" descr="img/cfi21.jp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6208776" y="4178808"/>
            <a:ext cx="1609344" cy="2194560"/>
          </a:xfrm>
          <a:prstGeom prst="rect">
            <a:avLst/>
          </a:prstGeom>
        </p:spPr>
      </p:pic>
      <p:sp>
        <p:nvSpPr>
          <p:cNvPr id="24" name="Text 12"/>
          <p:cNvSpPr txBox="1"/>
          <p:nvPr/>
        </p:nvSpPr>
        <p:spPr>
          <a:xfrm>
            <a:off x="8010144" y="39319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#12 · Sell</a:t>
            </a:r>
            <a:endParaRPr lang="en-US" sz="1000" dirty="0"/>
          </a:p>
        </p:txBody>
      </p:sp>
      <p:pic>
        <p:nvPicPr>
          <p:cNvPr id="25" name="Image 10" descr="img/cfi22.jp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8074152" y="4178808"/>
            <a:ext cx="1609344" cy="2194560"/>
          </a:xfrm>
          <a:prstGeom prst="rect">
            <a:avLst/>
          </a:prstGeom>
        </p:spPr>
      </p:pic>
      <p:sp>
        <p:nvSpPr>
          <p:cNvPr id="26" name="Text 13"/>
          <p:cNvSpPr txBox="1"/>
          <p:nvPr/>
        </p:nvSpPr>
        <p:spPr>
          <a:xfrm>
            <a:off x="9875520" y="39319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#13 · Buy</a:t>
            </a:r>
            <a:endParaRPr lang="en-US" sz="1000" dirty="0"/>
          </a:p>
        </p:txBody>
      </p:sp>
      <p:pic>
        <p:nvPicPr>
          <p:cNvPr id="27" name="Image 11" descr="img/cfi23.jp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9939528" y="4178808"/>
            <a:ext cx="1609344" cy="2194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APPENDIX D · CFI SCREENSHOTS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CFI History Screenshots (3 of 3)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#13 · Sell</a:t>
            </a:r>
            <a:endParaRPr lang="en-US" sz="1000" dirty="0"/>
          </a:p>
        </p:txBody>
      </p:sp>
      <p:pic>
        <p:nvPicPr>
          <p:cNvPr id="5" name="Image 0" descr="img/cfi2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" y="1664208"/>
            <a:ext cx="1609344" cy="21945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414016" y="14173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#14 · Buy</a:t>
            </a:r>
            <a:endParaRPr lang="en-US" sz="1000" dirty="0"/>
          </a:p>
        </p:txBody>
      </p:sp>
      <p:pic>
        <p:nvPicPr>
          <p:cNvPr id="7" name="Image 1" descr="img/cfi25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478024" y="1664208"/>
            <a:ext cx="1609344" cy="21945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279392" y="14173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#14 · Sell</a:t>
            </a:r>
            <a:endParaRPr lang="en-US" sz="1000" dirty="0"/>
          </a:p>
        </p:txBody>
      </p:sp>
      <p:pic>
        <p:nvPicPr>
          <p:cNvPr id="9" name="Image 2" descr="img/cfi26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43400" y="1664208"/>
            <a:ext cx="1609344" cy="219456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144768" y="14173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#15 · Buy (open)</a:t>
            </a:r>
            <a:endParaRPr lang="en-US" sz="1000" dirty="0"/>
          </a:p>
        </p:txBody>
      </p:sp>
      <p:pic>
        <p:nvPicPr>
          <p:cNvPr id="11" name="Image 3" descr="img/cfi27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208776" y="1664208"/>
            <a:ext cx="1609344" cy="2194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ading Floor">
  <a:themeElements>
    <a:clrScheme name="Trading Floor">
      <a:dk1>
        <a:srgbClr val="14213D"/>
      </a:dk1>
      <a:lt1>
        <a:srgbClr val="FFFFFF"/>
      </a:lt1>
      <a:dk2>
        <a:srgbClr val="0B1526"/>
      </a:dk2>
      <a:lt2>
        <a:srgbClr val="F1F4F8"/>
      </a:lt2>
      <a:accent1>
        <a:srgbClr val="0E9F6E"/>
      </a:accent1>
      <a:accent2>
        <a:srgbClr val="D64545"/>
      </a:accent2>
      <a:accent3>
        <a:srgbClr val="E0A100"/>
      </a:accent3>
      <a:accent4>
        <a:srgbClr val="2F6FB0"/>
      </a:accent4>
      <a:accent5>
        <a:srgbClr val="7A5AF8"/>
      </a:accent5>
      <a:accent6>
        <a:srgbClr val="5B6B82"/>
      </a:accent6>
      <a:hlink>
        <a:srgbClr val="2F6FB0"/>
      </a:hlink>
      <a:folHlink>
        <a:srgbClr val="7A5AF8"/>
      </a:folHlink>
    </a:clrScheme>
    <a:fontScheme name="Trading Floo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 8301 Options &amp; CFD Trading Presentation</dc:title>
  <dc:subject>PptxGenJS Presentation</dc:subject>
  <dc:creator>PptxGenJS</dc:creator>
  <cp:lastModifiedBy>PptxGenJS</cp:lastModifiedBy>
  <cp:revision>1</cp:revision>
  <dcterms:created xsi:type="dcterms:W3CDTF">2026-10-14T14:18:09Z</dcterms:created>
  <dcterms:modified xsi:type="dcterms:W3CDTF">2026-10-14T14:18:09Z</dcterms:modified>
</cp:coreProperties>
</file>